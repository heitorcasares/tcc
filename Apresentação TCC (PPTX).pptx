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y Grotesk V3 Key Bold" charset="1" panose="00000800000000000000"/>
      <p:regular r:id="rId19"/>
    </p:embeddedFont>
    <p:embeddedFont>
      <p:font typeface="Canva Sans" charset="1" panose="020B0503030501040103"/>
      <p:regular r:id="rId20"/>
    </p:embeddedFont>
    <p:embeddedFont>
      <p:font typeface="Canva Sans Bold" charset="1" panose="020B0803030501040103"/>
      <p:regular r:id="rId21"/>
    </p:embeddedFont>
    <p:embeddedFont>
      <p:font typeface="Canva Sans Medium" charset="1" panose="020B06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854553" y="3896467"/>
            <a:ext cx="12578894" cy="1886145"/>
          </a:xfrm>
          <a:prstGeom prst="rect">
            <a:avLst/>
          </a:prstGeom>
        </p:spPr>
        <p:txBody>
          <a:bodyPr anchor="t" rtlCol="false" tIns="0" lIns="0" bIns="0" rIns="0">
            <a:spAutoFit/>
          </a:bodyPr>
          <a:lstStyle/>
          <a:p>
            <a:pPr algn="ctr">
              <a:lnSpc>
                <a:spcPts val="14273"/>
              </a:lnSpc>
            </a:pPr>
            <a:r>
              <a:rPr lang="en-US" b="true" sz="13857">
                <a:solidFill>
                  <a:srgbClr val="273348"/>
                </a:solidFill>
                <a:latin typeface="Cy Grotesk V3 Key Bold"/>
                <a:ea typeface="Cy Grotesk V3 Key Bold"/>
                <a:cs typeface="Cy Grotesk V3 Key Bold"/>
                <a:sym typeface="Cy Grotesk V3 Key Bold"/>
              </a:rPr>
              <a:t>GRAFISENSE</a:t>
            </a:r>
          </a:p>
        </p:txBody>
      </p:sp>
      <p:sp>
        <p:nvSpPr>
          <p:cNvPr name="TextBox 3" id="3"/>
          <p:cNvSpPr txBox="true"/>
          <p:nvPr/>
        </p:nvSpPr>
        <p:spPr>
          <a:xfrm rot="0">
            <a:off x="5151870" y="6363485"/>
            <a:ext cx="7984261" cy="3125101"/>
          </a:xfrm>
          <a:prstGeom prst="rect">
            <a:avLst/>
          </a:prstGeom>
        </p:spPr>
        <p:txBody>
          <a:bodyPr anchor="t" rtlCol="false" tIns="0" lIns="0" bIns="0" rIns="0">
            <a:spAutoFit/>
          </a:bodyPr>
          <a:lstStyle/>
          <a:p>
            <a:pPr algn="ctr">
              <a:lnSpc>
                <a:spcPts val="4092"/>
              </a:lnSpc>
            </a:pPr>
            <a:r>
              <a:rPr lang="en-US" sz="4354">
                <a:solidFill>
                  <a:srgbClr val="273348"/>
                </a:solidFill>
                <a:latin typeface="Canva Sans"/>
                <a:ea typeface="Canva Sans"/>
                <a:cs typeface="Canva Sans"/>
                <a:sym typeface="Canva Sans"/>
              </a:rPr>
              <a:t>Arthur Baldo Alves</a:t>
            </a:r>
          </a:p>
          <a:p>
            <a:pPr algn="ctr">
              <a:lnSpc>
                <a:spcPts val="4092"/>
              </a:lnSpc>
            </a:pPr>
            <a:r>
              <a:rPr lang="en-US" sz="4354">
                <a:solidFill>
                  <a:srgbClr val="273348"/>
                </a:solidFill>
                <a:latin typeface="Canva Sans"/>
                <a:ea typeface="Canva Sans"/>
                <a:cs typeface="Canva Sans"/>
                <a:sym typeface="Canva Sans"/>
              </a:rPr>
              <a:t>Heitor da Silva Casares</a:t>
            </a:r>
          </a:p>
          <a:p>
            <a:pPr algn="ctr">
              <a:lnSpc>
                <a:spcPts val="4092"/>
              </a:lnSpc>
            </a:pPr>
            <a:r>
              <a:rPr lang="en-US" sz="4354">
                <a:solidFill>
                  <a:srgbClr val="273348"/>
                </a:solidFill>
                <a:latin typeface="Canva Sans"/>
                <a:ea typeface="Canva Sans"/>
                <a:cs typeface="Canva Sans"/>
                <a:sym typeface="Canva Sans"/>
              </a:rPr>
              <a:t>André Schwartz Filho</a:t>
            </a:r>
          </a:p>
          <a:p>
            <a:pPr algn="ctr">
              <a:lnSpc>
                <a:spcPts val="4092"/>
              </a:lnSpc>
            </a:pPr>
            <a:r>
              <a:rPr lang="en-US" sz="4354">
                <a:solidFill>
                  <a:srgbClr val="273348"/>
                </a:solidFill>
                <a:latin typeface="Canva Sans"/>
                <a:ea typeface="Canva Sans"/>
                <a:cs typeface="Canva Sans"/>
                <a:sym typeface="Canva Sans"/>
              </a:rPr>
              <a:t>Renato Serafim Calzzetta</a:t>
            </a:r>
          </a:p>
          <a:p>
            <a:pPr algn="ctr">
              <a:lnSpc>
                <a:spcPts val="4092"/>
              </a:lnSpc>
            </a:pPr>
          </a:p>
          <a:p>
            <a:pPr algn="ctr">
              <a:lnSpc>
                <a:spcPts val="4092"/>
              </a:lnSpc>
            </a:pPr>
          </a:p>
        </p:txBody>
      </p:sp>
      <p:sp>
        <p:nvSpPr>
          <p:cNvPr name="TextBox 4" id="4"/>
          <p:cNvSpPr txBox="true"/>
          <p:nvPr/>
        </p:nvSpPr>
        <p:spPr>
          <a:xfrm rot="0">
            <a:off x="6309171" y="1541635"/>
            <a:ext cx="5669659" cy="1136336"/>
          </a:xfrm>
          <a:prstGeom prst="rect">
            <a:avLst/>
          </a:prstGeom>
        </p:spPr>
        <p:txBody>
          <a:bodyPr anchor="t" rtlCol="false" tIns="0" lIns="0" bIns="0" rIns="0">
            <a:spAutoFit/>
          </a:bodyPr>
          <a:lstStyle/>
          <a:p>
            <a:pPr algn="ctr">
              <a:lnSpc>
                <a:spcPts val="2956"/>
              </a:lnSpc>
            </a:pPr>
          </a:p>
          <a:p>
            <a:pPr algn="ctr">
              <a:lnSpc>
                <a:spcPts val="2956"/>
              </a:lnSpc>
            </a:pPr>
            <a:r>
              <a:rPr lang="en-US" b="true" sz="3145">
                <a:solidFill>
                  <a:srgbClr val="273348"/>
                </a:solidFill>
                <a:latin typeface="Canva Sans Bold"/>
                <a:ea typeface="Canva Sans Bold"/>
                <a:cs typeface="Canva Sans Bold"/>
                <a:sym typeface="Canva Sans Bold"/>
              </a:rPr>
              <a:t>TRABALHO DE CONCLUSÃO DE CURSO</a:t>
            </a:r>
          </a:p>
        </p:txBody>
      </p:sp>
      <p:sp>
        <p:nvSpPr>
          <p:cNvPr name="Freeform 5" id="5"/>
          <p:cNvSpPr/>
          <p:nvPr/>
        </p:nvSpPr>
        <p:spPr>
          <a:xfrm flipH="false" flipV="false" rot="-5400000">
            <a:off x="13787186" y="-4069018"/>
            <a:ext cx="8167737" cy="8138036"/>
          </a:xfrm>
          <a:custGeom>
            <a:avLst/>
            <a:gdLst/>
            <a:ahLst/>
            <a:cxnLst/>
            <a:rect r="r" b="b" t="t" l="l"/>
            <a:pathLst>
              <a:path h="8138036" w="8167737">
                <a:moveTo>
                  <a:pt x="0" y="0"/>
                </a:moveTo>
                <a:lnTo>
                  <a:pt x="8167737" y="0"/>
                </a:lnTo>
                <a:lnTo>
                  <a:pt x="8167737"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333942" y="5923296"/>
            <a:ext cx="7599736" cy="7572100"/>
          </a:xfrm>
          <a:custGeom>
            <a:avLst/>
            <a:gdLst/>
            <a:ahLst/>
            <a:cxnLst/>
            <a:rect r="r" b="b" t="t" l="l"/>
            <a:pathLst>
              <a:path h="7572100" w="7599736">
                <a:moveTo>
                  <a:pt x="0" y="0"/>
                </a:moveTo>
                <a:lnTo>
                  <a:pt x="7599736" y="0"/>
                </a:lnTo>
                <a:lnTo>
                  <a:pt x="7599736" y="7572101"/>
                </a:lnTo>
                <a:lnTo>
                  <a:pt x="0" y="7572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0219" y="1875312"/>
            <a:ext cx="13027561" cy="878609"/>
          </a:xfrm>
          <a:prstGeom prst="rect">
            <a:avLst/>
          </a:prstGeom>
        </p:spPr>
        <p:txBody>
          <a:bodyPr anchor="t" rtlCol="false" tIns="0" lIns="0" bIns="0" rIns="0">
            <a:spAutoFit/>
          </a:bodyPr>
          <a:lstStyle/>
          <a:p>
            <a:pPr algn="ctr">
              <a:lnSpc>
                <a:spcPts val="6520"/>
              </a:lnSpc>
            </a:pPr>
            <a:r>
              <a:rPr lang="en-US" b="true" sz="7011">
                <a:solidFill>
                  <a:srgbClr val="273348"/>
                </a:solidFill>
                <a:latin typeface="Cy Grotesk V3 Key Bold"/>
                <a:ea typeface="Cy Grotesk V3 Key Bold"/>
                <a:cs typeface="Cy Grotesk V3 Key Bold"/>
                <a:sym typeface="Cy Grotesk V3 Key Bold"/>
              </a:rPr>
              <a:t>INTRODUÇÃO</a:t>
            </a:r>
          </a:p>
        </p:txBody>
      </p:sp>
      <p:sp>
        <p:nvSpPr>
          <p:cNvPr name="TextBox 3" id="3"/>
          <p:cNvSpPr txBox="true"/>
          <p:nvPr/>
        </p:nvSpPr>
        <p:spPr>
          <a:xfrm rot="0">
            <a:off x="3991092" y="3911942"/>
            <a:ext cx="10515144" cy="2453592"/>
          </a:xfrm>
          <a:prstGeom prst="rect">
            <a:avLst/>
          </a:prstGeom>
        </p:spPr>
        <p:txBody>
          <a:bodyPr anchor="t" rtlCol="false" tIns="0" lIns="0" bIns="0" rIns="0">
            <a:spAutoFit/>
          </a:bodyPr>
          <a:lstStyle/>
          <a:p>
            <a:pPr algn="ctr">
              <a:lnSpc>
                <a:spcPts val="3266"/>
              </a:lnSpc>
            </a:pPr>
            <a:r>
              <a:rPr lang="en-US" sz="2634">
                <a:solidFill>
                  <a:srgbClr val="273348"/>
                </a:solidFill>
                <a:latin typeface="Canva Sans"/>
                <a:ea typeface="Canva Sans"/>
                <a:cs typeface="Canva Sans"/>
                <a:sym typeface="Canva Sans"/>
              </a:rPr>
              <a:t> O G</a:t>
            </a:r>
            <a:r>
              <a:rPr lang="en-US" sz="2634">
                <a:solidFill>
                  <a:srgbClr val="273348"/>
                </a:solidFill>
                <a:latin typeface="Canva Sans"/>
                <a:ea typeface="Canva Sans"/>
                <a:cs typeface="Canva Sans"/>
                <a:sym typeface="Canva Sans"/>
              </a:rPr>
              <a:t>rafiSense é um software de apoio ao profissional de Terapia Ocupacional na avaliação de características associadas à disgrafia motora. O sistema permite analisar o posicionamento da mão durante a escrita e características gráficas, como espaçamento e legibilidade, armazenando os resultados para possibilitar o acompanhamento do paciente ao longo do tempo.</a:t>
            </a:r>
          </a:p>
        </p:txBody>
      </p:sp>
      <p:sp>
        <p:nvSpPr>
          <p:cNvPr name="Freeform 4" id="4"/>
          <p:cNvSpPr/>
          <p:nvPr/>
        </p:nvSpPr>
        <p:spPr>
          <a:xfrm flipH="false" flipV="false" rot="-5400000">
            <a:off x="13802314" y="-4069018"/>
            <a:ext cx="8167737" cy="8138036"/>
          </a:xfrm>
          <a:custGeom>
            <a:avLst/>
            <a:gdLst/>
            <a:ahLst/>
            <a:cxnLst/>
            <a:rect r="r" b="b" t="t" l="l"/>
            <a:pathLst>
              <a:path h="8138036" w="8167737">
                <a:moveTo>
                  <a:pt x="0" y="0"/>
                </a:moveTo>
                <a:lnTo>
                  <a:pt x="8167737" y="0"/>
                </a:lnTo>
                <a:lnTo>
                  <a:pt x="8167737"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333942" y="5923296"/>
            <a:ext cx="7599736" cy="7572100"/>
          </a:xfrm>
          <a:custGeom>
            <a:avLst/>
            <a:gdLst/>
            <a:ahLst/>
            <a:cxnLst/>
            <a:rect r="r" b="b" t="t" l="l"/>
            <a:pathLst>
              <a:path h="7572100" w="7599736">
                <a:moveTo>
                  <a:pt x="0" y="0"/>
                </a:moveTo>
                <a:lnTo>
                  <a:pt x="7599736" y="0"/>
                </a:lnTo>
                <a:lnTo>
                  <a:pt x="7599736" y="7572101"/>
                </a:lnTo>
                <a:lnTo>
                  <a:pt x="0" y="7572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91301" y="-2444729"/>
            <a:ext cx="6552425" cy="6528598"/>
          </a:xfrm>
          <a:custGeom>
            <a:avLst/>
            <a:gdLst/>
            <a:ahLst/>
            <a:cxnLst/>
            <a:rect r="r" b="b" t="t" l="l"/>
            <a:pathLst>
              <a:path h="6528598" w="6552425">
                <a:moveTo>
                  <a:pt x="0" y="0"/>
                </a:moveTo>
                <a:lnTo>
                  <a:pt x="6552425" y="0"/>
                </a:lnTo>
                <a:lnTo>
                  <a:pt x="6552425" y="6528598"/>
                </a:lnTo>
                <a:lnTo>
                  <a:pt x="0" y="65285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17164" y="5909478"/>
            <a:ext cx="6976478" cy="6951109"/>
          </a:xfrm>
          <a:custGeom>
            <a:avLst/>
            <a:gdLst/>
            <a:ahLst/>
            <a:cxnLst/>
            <a:rect r="r" b="b" t="t" l="l"/>
            <a:pathLst>
              <a:path h="6951109" w="6976478">
                <a:moveTo>
                  <a:pt x="0" y="0"/>
                </a:moveTo>
                <a:lnTo>
                  <a:pt x="6976479" y="0"/>
                </a:lnTo>
                <a:lnTo>
                  <a:pt x="6976479" y="6951110"/>
                </a:lnTo>
                <a:lnTo>
                  <a:pt x="0" y="69511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493641" y="7928799"/>
            <a:ext cx="6466948" cy="447957"/>
          </a:xfrm>
          <a:prstGeom prst="rect">
            <a:avLst/>
          </a:prstGeom>
        </p:spPr>
        <p:txBody>
          <a:bodyPr anchor="t" rtlCol="false" tIns="0" lIns="0" bIns="0" rIns="0">
            <a:spAutoFit/>
          </a:bodyPr>
          <a:lstStyle/>
          <a:p>
            <a:pPr algn="ctr">
              <a:lnSpc>
                <a:spcPts val="3225"/>
              </a:lnSpc>
            </a:pPr>
            <a:r>
              <a:rPr lang="en-US" b="true" sz="3468">
                <a:solidFill>
                  <a:srgbClr val="273348"/>
                </a:solidFill>
                <a:latin typeface="Cy Grotesk V3 Key Bold"/>
                <a:ea typeface="Cy Grotesk V3 Key Bold"/>
                <a:cs typeface="Cy Grotesk V3 Key Bold"/>
                <a:sym typeface="Cy Grotesk V3 Key Bold"/>
              </a:rPr>
              <a:t>PALAVRAS-CHAVE</a:t>
            </a:r>
          </a:p>
        </p:txBody>
      </p:sp>
      <p:sp>
        <p:nvSpPr>
          <p:cNvPr name="TextBox 9" id="9"/>
          <p:cNvSpPr txBox="true"/>
          <p:nvPr/>
        </p:nvSpPr>
        <p:spPr>
          <a:xfrm rot="0">
            <a:off x="3055500" y="8443008"/>
            <a:ext cx="10515144" cy="815292"/>
          </a:xfrm>
          <a:prstGeom prst="rect">
            <a:avLst/>
          </a:prstGeom>
        </p:spPr>
        <p:txBody>
          <a:bodyPr anchor="t" rtlCol="false" tIns="0" lIns="0" bIns="0" rIns="0">
            <a:spAutoFit/>
          </a:bodyPr>
          <a:lstStyle/>
          <a:p>
            <a:pPr algn="ctr">
              <a:lnSpc>
                <a:spcPts val="3266"/>
              </a:lnSpc>
            </a:pPr>
            <a:r>
              <a:rPr lang="en-US" sz="2634">
                <a:solidFill>
                  <a:srgbClr val="273348"/>
                </a:solidFill>
                <a:latin typeface="Canva Sans"/>
                <a:ea typeface="Canva Sans"/>
                <a:cs typeface="Canva Sans"/>
                <a:sym typeface="Canva Sans"/>
              </a:rPr>
              <a:t> D</a:t>
            </a:r>
            <a:r>
              <a:rPr lang="en-US" sz="2634">
                <a:solidFill>
                  <a:srgbClr val="273348"/>
                </a:solidFill>
                <a:latin typeface="Canva Sans"/>
                <a:ea typeface="Canva Sans"/>
                <a:cs typeface="Canva Sans"/>
                <a:sym typeface="Canva Sans"/>
              </a:rPr>
              <a:t>isgrafia, escrita manual, coordenação motora</a:t>
            </a:r>
          </a:p>
          <a:p>
            <a:pPr algn="ctr">
              <a:lnSpc>
                <a:spcPts val="326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0219" y="2631718"/>
            <a:ext cx="13027561" cy="878609"/>
          </a:xfrm>
          <a:prstGeom prst="rect">
            <a:avLst/>
          </a:prstGeom>
        </p:spPr>
        <p:txBody>
          <a:bodyPr anchor="t" rtlCol="false" tIns="0" lIns="0" bIns="0" rIns="0">
            <a:spAutoFit/>
          </a:bodyPr>
          <a:lstStyle/>
          <a:p>
            <a:pPr algn="ctr">
              <a:lnSpc>
                <a:spcPts val="6520"/>
              </a:lnSpc>
            </a:pPr>
            <a:r>
              <a:rPr lang="en-US" b="true" sz="7011">
                <a:solidFill>
                  <a:srgbClr val="273348"/>
                </a:solidFill>
                <a:latin typeface="Cy Grotesk V3 Key Bold"/>
                <a:ea typeface="Cy Grotesk V3 Key Bold"/>
                <a:cs typeface="Cy Grotesk V3 Key Bold"/>
                <a:sym typeface="Cy Grotesk V3 Key Bold"/>
              </a:rPr>
              <a:t>JUSTIFICATIVA</a:t>
            </a:r>
          </a:p>
        </p:txBody>
      </p:sp>
      <p:sp>
        <p:nvSpPr>
          <p:cNvPr name="TextBox 3" id="3"/>
          <p:cNvSpPr txBox="true"/>
          <p:nvPr/>
        </p:nvSpPr>
        <p:spPr>
          <a:xfrm rot="0">
            <a:off x="3665743" y="4199859"/>
            <a:ext cx="10956514" cy="3409714"/>
          </a:xfrm>
          <a:prstGeom prst="rect">
            <a:avLst/>
          </a:prstGeom>
        </p:spPr>
        <p:txBody>
          <a:bodyPr anchor="t" rtlCol="false" tIns="0" lIns="0" bIns="0" rIns="0">
            <a:spAutoFit/>
          </a:bodyPr>
          <a:lstStyle/>
          <a:p>
            <a:pPr algn="ctr">
              <a:lnSpc>
                <a:spcPts val="3403"/>
              </a:lnSpc>
            </a:pPr>
            <a:r>
              <a:rPr lang="en-US" sz="2745">
                <a:solidFill>
                  <a:srgbClr val="273348"/>
                </a:solidFill>
                <a:latin typeface="Canva Sans"/>
                <a:ea typeface="Canva Sans"/>
                <a:cs typeface="Canva Sans"/>
                <a:sym typeface="Canva Sans"/>
              </a:rPr>
              <a:t>Ainda hoje, em 2026, milhares de crianças sofrem com um transtorno específico de aprendizagem no Brasil, a disgrafia motora. A disgrafia motora é um transtorno neurobiológico que resulta na escrita ilegível, esforço físico, dificuldade na postura e também na recordação do formato das letras, o que pode causar problemas psicológicos para a criança no futuro, o trabalho apontará a importância de um software que auxiliará em uma cooperação para a resolução do problema em questão.</a:t>
            </a:r>
          </a:p>
        </p:txBody>
      </p:sp>
      <p:sp>
        <p:nvSpPr>
          <p:cNvPr name="Freeform 4" id="4"/>
          <p:cNvSpPr/>
          <p:nvPr/>
        </p:nvSpPr>
        <p:spPr>
          <a:xfrm flipH="false" flipV="false" rot="-5400000">
            <a:off x="13802314" y="-4069018"/>
            <a:ext cx="8167737" cy="8138036"/>
          </a:xfrm>
          <a:custGeom>
            <a:avLst/>
            <a:gdLst/>
            <a:ahLst/>
            <a:cxnLst/>
            <a:rect r="r" b="b" t="t" l="l"/>
            <a:pathLst>
              <a:path h="8138036" w="8167737">
                <a:moveTo>
                  <a:pt x="0" y="0"/>
                </a:moveTo>
                <a:lnTo>
                  <a:pt x="8167737" y="0"/>
                </a:lnTo>
                <a:lnTo>
                  <a:pt x="8167737"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3333942" y="5923296"/>
            <a:ext cx="7599736" cy="7572100"/>
          </a:xfrm>
          <a:custGeom>
            <a:avLst/>
            <a:gdLst/>
            <a:ahLst/>
            <a:cxnLst/>
            <a:rect r="r" b="b" t="t" l="l"/>
            <a:pathLst>
              <a:path h="7572100" w="7599736">
                <a:moveTo>
                  <a:pt x="0" y="0"/>
                </a:moveTo>
                <a:lnTo>
                  <a:pt x="7599736" y="0"/>
                </a:lnTo>
                <a:lnTo>
                  <a:pt x="7599736" y="7572101"/>
                </a:lnTo>
                <a:lnTo>
                  <a:pt x="0" y="7572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91301" y="-2444729"/>
            <a:ext cx="6552425" cy="6528598"/>
          </a:xfrm>
          <a:custGeom>
            <a:avLst/>
            <a:gdLst/>
            <a:ahLst/>
            <a:cxnLst/>
            <a:rect r="r" b="b" t="t" l="l"/>
            <a:pathLst>
              <a:path h="6528598" w="6552425">
                <a:moveTo>
                  <a:pt x="0" y="0"/>
                </a:moveTo>
                <a:lnTo>
                  <a:pt x="6552425" y="0"/>
                </a:lnTo>
                <a:lnTo>
                  <a:pt x="6552425" y="6528598"/>
                </a:lnTo>
                <a:lnTo>
                  <a:pt x="0" y="65285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17164" y="5909478"/>
            <a:ext cx="6976478" cy="6951109"/>
          </a:xfrm>
          <a:custGeom>
            <a:avLst/>
            <a:gdLst/>
            <a:ahLst/>
            <a:cxnLst/>
            <a:rect r="r" b="b" t="t" l="l"/>
            <a:pathLst>
              <a:path h="6951109" w="6976478">
                <a:moveTo>
                  <a:pt x="0" y="0"/>
                </a:moveTo>
                <a:lnTo>
                  <a:pt x="6976479" y="0"/>
                </a:lnTo>
                <a:lnTo>
                  <a:pt x="6976479" y="6951110"/>
                </a:lnTo>
                <a:lnTo>
                  <a:pt x="0" y="69511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74401" y="2180507"/>
            <a:ext cx="8306039" cy="1037542"/>
          </a:xfrm>
          <a:prstGeom prst="rect">
            <a:avLst/>
          </a:prstGeom>
        </p:spPr>
        <p:txBody>
          <a:bodyPr anchor="t" rtlCol="false" tIns="0" lIns="0" bIns="0" rIns="0">
            <a:spAutoFit/>
          </a:bodyPr>
          <a:lstStyle/>
          <a:p>
            <a:pPr algn="r">
              <a:lnSpc>
                <a:spcPts val="7837"/>
              </a:lnSpc>
            </a:pPr>
            <a:r>
              <a:rPr lang="en-US" b="true" sz="7464">
                <a:solidFill>
                  <a:srgbClr val="273348"/>
                </a:solidFill>
                <a:latin typeface="Cy Grotesk V3 Key Bold"/>
                <a:ea typeface="Cy Grotesk V3 Key Bold"/>
                <a:cs typeface="Cy Grotesk V3 Key Bold"/>
                <a:sym typeface="Cy Grotesk V3 Key Bold"/>
              </a:rPr>
              <a:t>CONCEITOS</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978973"/>
            <a:ext cx="7670479" cy="5752859"/>
            <a:chOff x="0" y="0"/>
            <a:chExt cx="812800" cy="609600"/>
          </a:xfrm>
        </p:grpSpPr>
        <p:sp>
          <p:nvSpPr>
            <p:cNvPr name="Freeform 6" id="6"/>
            <p:cNvSpPr/>
            <p:nvPr/>
          </p:nvSpPr>
          <p:spPr>
            <a:xfrm flipH="false" flipV="false" rot="0">
              <a:off x="0" y="0"/>
              <a:ext cx="812800" cy="609600"/>
            </a:xfrm>
            <a:custGeom>
              <a:avLst/>
              <a:gdLst/>
              <a:ahLst/>
              <a:cxnLst/>
              <a:rect r="r" b="b" t="t" l="l"/>
              <a:pathLst>
                <a:path h="609600" w="812800">
                  <a:moveTo>
                    <a:pt x="609600" y="0"/>
                  </a:moveTo>
                  <a:lnTo>
                    <a:pt x="0" y="0"/>
                  </a:lnTo>
                  <a:lnTo>
                    <a:pt x="203200" y="609600"/>
                  </a:lnTo>
                  <a:lnTo>
                    <a:pt x="812800" y="609600"/>
                  </a:lnTo>
                  <a:lnTo>
                    <a:pt x="609600" y="0"/>
                  </a:lnTo>
                  <a:close/>
                </a:path>
              </a:pathLst>
            </a:custGeom>
            <a:blipFill>
              <a:blip r:embed="rId4"/>
              <a:stretch>
                <a:fillRect l="-5446" t="0" r="-5446" b="0"/>
              </a:stretch>
            </a:blipFill>
          </p:spPr>
        </p:sp>
      </p:grpSp>
      <p:sp>
        <p:nvSpPr>
          <p:cNvPr name="TextBox 7" id="7"/>
          <p:cNvSpPr txBox="true"/>
          <p:nvPr/>
        </p:nvSpPr>
        <p:spPr>
          <a:xfrm rot="0">
            <a:off x="9144000" y="4331078"/>
            <a:ext cx="8017623" cy="3262068"/>
          </a:xfrm>
          <a:prstGeom prst="rect">
            <a:avLst/>
          </a:prstGeom>
        </p:spPr>
        <p:txBody>
          <a:bodyPr anchor="t" rtlCol="false" tIns="0" lIns="0" bIns="0" rIns="0">
            <a:spAutoFit/>
          </a:bodyPr>
          <a:lstStyle/>
          <a:p>
            <a:pPr algn="r">
              <a:lnSpc>
                <a:spcPts val="2874"/>
              </a:lnSpc>
            </a:pPr>
            <a:r>
              <a:rPr lang="en-US" sz="2737">
                <a:solidFill>
                  <a:srgbClr val="273348"/>
                </a:solidFill>
                <a:latin typeface="Canva Sans"/>
                <a:ea typeface="Canva Sans"/>
                <a:cs typeface="Canva Sans"/>
                <a:sym typeface="Canva Sans"/>
              </a:rPr>
              <a:t>A</a:t>
            </a:r>
            <a:r>
              <a:rPr lang="en-US" sz="2737">
                <a:solidFill>
                  <a:srgbClr val="273348"/>
                </a:solidFill>
                <a:latin typeface="Canva Sans"/>
                <a:ea typeface="Canva Sans"/>
                <a:cs typeface="Canva Sans"/>
                <a:sym typeface="Canva Sans"/>
              </a:rPr>
              <a:t> disgrafia motora é um transtorno específico de aprendizagem que afeta a coordenação motora fina. A pessoa sabe o que quer escrever e visualiza a palavra, mas tem dificuldade em executar os movimentos necessários para registrá-la no papel.</a:t>
            </a:r>
          </a:p>
          <a:p>
            <a:pPr algn="r">
              <a:lnSpc>
                <a:spcPts val="2874"/>
              </a:lnSpc>
            </a:pPr>
            <a:r>
              <a:rPr lang="en-US" sz="2737">
                <a:solidFill>
                  <a:srgbClr val="273348"/>
                </a:solidFill>
                <a:latin typeface="Canva Sans"/>
                <a:ea typeface="Canva Sans"/>
                <a:cs typeface="Canva Sans"/>
                <a:sym typeface="Canva Sans"/>
              </a:rPr>
              <a:t>Isso resulta em letras irregulares, traços disformes e cansaço físico ao escrever, o que acaba tornando a letra de um indivíduo ilegível.  </a:t>
            </a:r>
          </a:p>
        </p:txBody>
      </p:sp>
      <p:sp>
        <p:nvSpPr>
          <p:cNvPr name="TextBox 8" id="8"/>
          <p:cNvSpPr txBox="true"/>
          <p:nvPr/>
        </p:nvSpPr>
        <p:spPr>
          <a:xfrm rot="0">
            <a:off x="11070507" y="3374591"/>
            <a:ext cx="4788769" cy="398922"/>
          </a:xfrm>
          <a:prstGeom prst="rect">
            <a:avLst/>
          </a:prstGeom>
        </p:spPr>
        <p:txBody>
          <a:bodyPr anchor="t" rtlCol="false" tIns="0" lIns="0" bIns="0" rIns="0">
            <a:spAutoFit/>
          </a:bodyPr>
          <a:lstStyle/>
          <a:p>
            <a:pPr algn="ctr">
              <a:lnSpc>
                <a:spcPts val="3087"/>
              </a:lnSpc>
            </a:pPr>
            <a:r>
              <a:rPr lang="en-US" b="true" sz="2940">
                <a:solidFill>
                  <a:srgbClr val="273348"/>
                </a:solidFill>
                <a:latin typeface="Canva Sans Bold"/>
                <a:ea typeface="Canva Sans Bold"/>
                <a:cs typeface="Canva Sans Bold"/>
                <a:sym typeface="Canva Sans Bold"/>
              </a:rPr>
              <a:t>DISGRAFIA MOTORA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180297" y="1953585"/>
            <a:ext cx="8306039" cy="1037542"/>
          </a:xfrm>
          <a:prstGeom prst="rect">
            <a:avLst/>
          </a:prstGeom>
        </p:spPr>
        <p:txBody>
          <a:bodyPr anchor="t" rtlCol="false" tIns="0" lIns="0" bIns="0" rIns="0">
            <a:spAutoFit/>
          </a:bodyPr>
          <a:lstStyle/>
          <a:p>
            <a:pPr algn="r">
              <a:lnSpc>
                <a:spcPts val="7837"/>
              </a:lnSpc>
            </a:pPr>
            <a:r>
              <a:rPr lang="en-US" b="true" sz="7464">
                <a:solidFill>
                  <a:srgbClr val="273348"/>
                </a:solidFill>
                <a:latin typeface="Cy Grotesk V3 Key Bold"/>
                <a:ea typeface="Cy Grotesk V3 Key Bold"/>
                <a:cs typeface="Cy Grotesk V3 Key Bold"/>
                <a:sym typeface="Cy Grotesk V3 Key Bold"/>
              </a:rPr>
              <a:t>CONCEITOS</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741266" y="1482190"/>
            <a:ext cx="8653147" cy="5900286"/>
            <a:chOff x="0" y="0"/>
            <a:chExt cx="6289040" cy="4288282"/>
          </a:xfrm>
        </p:grpSpPr>
        <p:sp>
          <p:nvSpPr>
            <p:cNvPr name="Freeform 6" id="6"/>
            <p:cNvSpPr/>
            <p:nvPr/>
          </p:nvSpPr>
          <p:spPr>
            <a:xfrm flipH="false" flipV="false" rot="0">
              <a:off x="0" y="0"/>
              <a:ext cx="6289051" cy="4288261"/>
            </a:xfrm>
            <a:custGeom>
              <a:avLst/>
              <a:gdLst/>
              <a:ahLst/>
              <a:cxnLst/>
              <a:rect r="r" b="b" t="t" l="l"/>
              <a:pathLst>
                <a:path h="4288261" w="6289051">
                  <a:moveTo>
                    <a:pt x="4998212" y="0"/>
                  </a:moveTo>
                  <a:cubicBezTo>
                    <a:pt x="5158867" y="0"/>
                    <a:pt x="5321427" y="127762"/>
                    <a:pt x="5359527" y="283718"/>
                  </a:cubicBezTo>
                  <a:lnTo>
                    <a:pt x="6280785" y="4059936"/>
                  </a:lnTo>
                  <a:cubicBezTo>
                    <a:pt x="6318885" y="4216019"/>
                    <a:pt x="6221603" y="4315714"/>
                    <a:pt x="6064631" y="4281551"/>
                  </a:cubicBezTo>
                  <a:lnTo>
                    <a:pt x="285369" y="3023235"/>
                  </a:lnTo>
                  <a:cubicBezTo>
                    <a:pt x="128397" y="2989072"/>
                    <a:pt x="0" y="2829687"/>
                    <a:pt x="0" y="2669032"/>
                  </a:cubicBezTo>
                  <a:lnTo>
                    <a:pt x="0" y="292100"/>
                  </a:lnTo>
                  <a:cubicBezTo>
                    <a:pt x="0" y="131445"/>
                    <a:pt x="131445" y="0"/>
                    <a:pt x="292100" y="0"/>
                  </a:cubicBezTo>
                  <a:lnTo>
                    <a:pt x="4998212" y="0"/>
                  </a:lnTo>
                  <a:close/>
                </a:path>
              </a:pathLst>
            </a:custGeom>
            <a:blipFill>
              <a:blip r:embed="rId4"/>
              <a:stretch>
                <a:fillRect l="-1267" t="0" r="-1267" b="0"/>
              </a:stretch>
            </a:blipFill>
          </p:spPr>
        </p:sp>
      </p:grpSp>
      <p:sp>
        <p:nvSpPr>
          <p:cNvPr name="TextBox 7" id="7"/>
          <p:cNvSpPr txBox="true"/>
          <p:nvPr/>
        </p:nvSpPr>
        <p:spPr>
          <a:xfrm rot="0">
            <a:off x="9029883" y="4482359"/>
            <a:ext cx="8017623" cy="2900118"/>
          </a:xfrm>
          <a:prstGeom prst="rect">
            <a:avLst/>
          </a:prstGeom>
        </p:spPr>
        <p:txBody>
          <a:bodyPr anchor="t" rtlCol="false" tIns="0" lIns="0" bIns="0" rIns="0">
            <a:spAutoFit/>
          </a:bodyPr>
          <a:lstStyle/>
          <a:p>
            <a:pPr algn="r">
              <a:lnSpc>
                <a:spcPts val="2874"/>
              </a:lnSpc>
            </a:pPr>
            <a:r>
              <a:rPr lang="en-US" sz="2737">
                <a:solidFill>
                  <a:srgbClr val="273348"/>
                </a:solidFill>
                <a:latin typeface="Canva Sans"/>
                <a:ea typeface="Canva Sans"/>
                <a:cs typeface="Canva Sans"/>
                <a:sym typeface="Canva Sans"/>
              </a:rPr>
              <a:t>Um</a:t>
            </a:r>
            <a:r>
              <a:rPr lang="en-US" sz="2737">
                <a:solidFill>
                  <a:srgbClr val="273348"/>
                </a:solidFill>
                <a:latin typeface="Canva Sans"/>
                <a:ea typeface="Canva Sans"/>
                <a:cs typeface="Canva Sans"/>
                <a:sym typeface="Canva Sans"/>
              </a:rPr>
              <a:t> profissional de TO é o terapeuta ocupacional, um especialista da área da saúde de nível superior que promove a autonomia, a independência e a qualidade de vida de pessoas com limitações físicas, mentais, emocionais ou sociais.</a:t>
            </a:r>
          </a:p>
          <a:p>
            <a:pPr algn="r">
              <a:lnSpc>
                <a:spcPts val="2874"/>
              </a:lnSpc>
            </a:pPr>
            <a:r>
              <a:rPr lang="en-US" sz="2737">
                <a:solidFill>
                  <a:srgbClr val="273348"/>
                </a:solidFill>
                <a:latin typeface="Canva Sans"/>
                <a:ea typeface="Canva Sans"/>
                <a:cs typeface="Canva Sans"/>
                <a:sym typeface="Canva Sans"/>
              </a:rPr>
              <a:t> </a:t>
            </a:r>
          </a:p>
          <a:p>
            <a:pPr algn="r">
              <a:lnSpc>
                <a:spcPts val="2874"/>
              </a:lnSpc>
            </a:pPr>
            <a:r>
              <a:rPr lang="en-US" sz="2737">
                <a:solidFill>
                  <a:srgbClr val="273348"/>
                </a:solidFill>
                <a:latin typeface="Canva Sans"/>
                <a:ea typeface="Canva Sans"/>
                <a:cs typeface="Canva Sans"/>
                <a:sym typeface="Canva Sans"/>
              </a:rPr>
              <a:t> </a:t>
            </a:r>
          </a:p>
        </p:txBody>
      </p:sp>
      <p:sp>
        <p:nvSpPr>
          <p:cNvPr name="TextBox 8" id="8"/>
          <p:cNvSpPr txBox="true"/>
          <p:nvPr/>
        </p:nvSpPr>
        <p:spPr>
          <a:xfrm rot="0">
            <a:off x="11009994" y="3132541"/>
            <a:ext cx="4788769" cy="789447"/>
          </a:xfrm>
          <a:prstGeom prst="rect">
            <a:avLst/>
          </a:prstGeom>
        </p:spPr>
        <p:txBody>
          <a:bodyPr anchor="t" rtlCol="false" tIns="0" lIns="0" bIns="0" rIns="0">
            <a:spAutoFit/>
          </a:bodyPr>
          <a:lstStyle/>
          <a:p>
            <a:pPr algn="ctr">
              <a:lnSpc>
                <a:spcPts val="3087"/>
              </a:lnSpc>
            </a:pPr>
            <a:r>
              <a:rPr lang="en-US" sz="2940" b="true">
                <a:solidFill>
                  <a:srgbClr val="273348"/>
                </a:solidFill>
                <a:latin typeface="Canva Sans Bold"/>
                <a:ea typeface="Canva Sans Bold"/>
                <a:cs typeface="Canva Sans Bold"/>
                <a:sym typeface="Canva Sans Bold"/>
              </a:rPr>
              <a:t>PROFISSIONAL DE T.O</a:t>
            </a:r>
          </a:p>
          <a:p>
            <a:pPr algn="ctr">
              <a:lnSpc>
                <a:spcPts val="3087"/>
              </a:lnSpc>
            </a:pPr>
            <a:r>
              <a:rPr lang="en-US" b="true" sz="2940">
                <a:solidFill>
                  <a:srgbClr val="273348"/>
                </a:solidFill>
                <a:latin typeface="Canva Sans Bold"/>
                <a:ea typeface="Canva Sans Bold"/>
                <a:cs typeface="Canva Sans Bold"/>
                <a:sym typeface="Canva Sans Bold"/>
              </a:rPr>
              <a:t>(TERAPIA OCUPACIONAL)</a:t>
            </a:r>
          </a:p>
        </p:txBody>
      </p:sp>
      <p:sp>
        <p:nvSpPr>
          <p:cNvPr name="Freeform 9" id="9"/>
          <p:cNvSpPr/>
          <p:nvPr/>
        </p:nvSpPr>
        <p:spPr>
          <a:xfrm flipH="true" flipV="false" rot="-5400000">
            <a:off x="14204131" y="6000172"/>
            <a:ext cx="8167737" cy="8138036"/>
          </a:xfrm>
          <a:custGeom>
            <a:avLst/>
            <a:gdLst/>
            <a:ahLst/>
            <a:cxnLst/>
            <a:rect r="r" b="b" t="t" l="l"/>
            <a:pathLst>
              <a:path h="8138036" w="8167737">
                <a:moveTo>
                  <a:pt x="8167738" y="0"/>
                </a:moveTo>
                <a:lnTo>
                  <a:pt x="0" y="0"/>
                </a:lnTo>
                <a:lnTo>
                  <a:pt x="0" y="8138036"/>
                </a:lnTo>
                <a:lnTo>
                  <a:pt x="8167738" y="8138036"/>
                </a:lnTo>
                <a:lnTo>
                  <a:pt x="8167738"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80172" y="5124450"/>
            <a:ext cx="6315449" cy="2974714"/>
          </a:xfrm>
          <a:prstGeom prst="rect">
            <a:avLst/>
          </a:prstGeom>
        </p:spPr>
        <p:txBody>
          <a:bodyPr anchor="t" rtlCol="false" tIns="0" lIns="0" bIns="0" rIns="0">
            <a:spAutoFit/>
          </a:bodyPr>
          <a:lstStyle/>
          <a:p>
            <a:pPr algn="l">
              <a:lnSpc>
                <a:spcPts val="3938"/>
              </a:lnSpc>
            </a:pPr>
            <a:r>
              <a:rPr lang="en-US" sz="3176" b="true">
                <a:solidFill>
                  <a:srgbClr val="273348"/>
                </a:solidFill>
                <a:latin typeface="Canva Sans Bold"/>
                <a:ea typeface="Canva Sans Bold"/>
                <a:cs typeface="Canva Sans Bold"/>
                <a:sym typeface="Canva Sans Bold"/>
              </a:rPr>
              <a:t>Como tecnologias de visão computacional e aprendizado de máquina podem auxiliar na captura e análise de características associadas à disgrafia motora em crianças?</a:t>
            </a:r>
          </a:p>
        </p:txBody>
      </p:sp>
      <p:sp>
        <p:nvSpPr>
          <p:cNvPr name="Freeform 3" id="3"/>
          <p:cNvSpPr/>
          <p:nvPr/>
        </p:nvSpPr>
        <p:spPr>
          <a:xfrm flipH="true" flipV="true" rot="-5400000">
            <a:off x="14204131" y="-3785017"/>
            <a:ext cx="8167737" cy="8138036"/>
          </a:xfrm>
          <a:custGeom>
            <a:avLst/>
            <a:gdLst/>
            <a:ahLst/>
            <a:cxnLst/>
            <a:rect r="r" b="b" t="t" l="l"/>
            <a:pathLst>
              <a:path h="8138036" w="8167737">
                <a:moveTo>
                  <a:pt x="8167738" y="8138036"/>
                </a:moveTo>
                <a:lnTo>
                  <a:pt x="0" y="8138036"/>
                </a:lnTo>
                <a:lnTo>
                  <a:pt x="0" y="0"/>
                </a:lnTo>
                <a:lnTo>
                  <a:pt x="8167738" y="0"/>
                </a:lnTo>
                <a:lnTo>
                  <a:pt x="8167738" y="813803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true" rot="-5400000">
            <a:off x="-3741822" y="6283140"/>
            <a:ext cx="7599736" cy="7572100"/>
          </a:xfrm>
          <a:custGeom>
            <a:avLst/>
            <a:gdLst/>
            <a:ahLst/>
            <a:cxnLst/>
            <a:rect r="r" b="b" t="t" l="l"/>
            <a:pathLst>
              <a:path h="7572100" w="7599736">
                <a:moveTo>
                  <a:pt x="7599736" y="7572100"/>
                </a:moveTo>
                <a:lnTo>
                  <a:pt x="0" y="7572100"/>
                </a:lnTo>
                <a:lnTo>
                  <a:pt x="0" y="0"/>
                </a:lnTo>
                <a:lnTo>
                  <a:pt x="7599736" y="0"/>
                </a:lnTo>
                <a:lnTo>
                  <a:pt x="7599736" y="757210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9410401" y="385878"/>
            <a:ext cx="3773459" cy="3697990"/>
          </a:xfrm>
          <a:custGeom>
            <a:avLst/>
            <a:gdLst/>
            <a:ahLst/>
            <a:cxnLst/>
            <a:rect r="r" b="b" t="t" l="l"/>
            <a:pathLst>
              <a:path h="3697990" w="3773459">
                <a:moveTo>
                  <a:pt x="0" y="0"/>
                </a:moveTo>
                <a:lnTo>
                  <a:pt x="3773459" y="0"/>
                </a:lnTo>
                <a:lnTo>
                  <a:pt x="3773459" y="3697991"/>
                </a:lnTo>
                <a:lnTo>
                  <a:pt x="0" y="3697991"/>
                </a:lnTo>
                <a:lnTo>
                  <a:pt x="0" y="0"/>
                </a:lnTo>
                <a:close/>
              </a:path>
            </a:pathLst>
          </a:custGeom>
          <a:blipFill>
            <a:blip r:embed="rId4"/>
            <a:stretch>
              <a:fillRect l="0" t="0" r="0" b="0"/>
            </a:stretch>
          </a:blipFill>
        </p:spPr>
      </p:sp>
      <p:sp>
        <p:nvSpPr>
          <p:cNvPr name="TextBox 6" id="6"/>
          <p:cNvSpPr txBox="true"/>
          <p:nvPr/>
        </p:nvSpPr>
        <p:spPr>
          <a:xfrm rot="0">
            <a:off x="3980172" y="3068383"/>
            <a:ext cx="5181769" cy="1563635"/>
          </a:xfrm>
          <a:prstGeom prst="rect">
            <a:avLst/>
          </a:prstGeom>
        </p:spPr>
        <p:txBody>
          <a:bodyPr anchor="t" rtlCol="false" tIns="0" lIns="0" bIns="0" rIns="0">
            <a:spAutoFit/>
          </a:bodyPr>
          <a:lstStyle/>
          <a:p>
            <a:pPr algn="ctr">
              <a:lnSpc>
                <a:spcPts val="5983"/>
              </a:lnSpc>
            </a:pPr>
            <a:r>
              <a:rPr lang="en-US" b="true" sz="6433">
                <a:solidFill>
                  <a:srgbClr val="273348"/>
                </a:solidFill>
                <a:latin typeface="Cy Grotesk V3 Key Bold"/>
                <a:ea typeface="Cy Grotesk V3 Key Bold"/>
                <a:cs typeface="Cy Grotesk V3 Key Bold"/>
                <a:sym typeface="Cy Grotesk V3 Key Bold"/>
              </a:rPr>
              <a:t>PERGUNTA PROBLEMA</a:t>
            </a:r>
          </a:p>
        </p:txBody>
      </p:sp>
      <p:sp>
        <p:nvSpPr>
          <p:cNvPr name="Freeform 7" id="7"/>
          <p:cNvSpPr/>
          <p:nvPr/>
        </p:nvSpPr>
        <p:spPr>
          <a:xfrm flipH="false" flipV="false" rot="-5400000">
            <a:off x="-3741822" y="-3502049"/>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98709" y="4480399"/>
            <a:ext cx="12012604" cy="2536526"/>
          </a:xfrm>
          <a:prstGeom prst="rect">
            <a:avLst/>
          </a:prstGeom>
        </p:spPr>
        <p:txBody>
          <a:bodyPr anchor="t" rtlCol="false" tIns="0" lIns="0" bIns="0" rIns="0">
            <a:spAutoFit/>
          </a:bodyPr>
          <a:lstStyle/>
          <a:p>
            <a:pPr algn="ctr">
              <a:lnSpc>
                <a:spcPts val="3972"/>
              </a:lnSpc>
            </a:pPr>
            <a:r>
              <a:rPr lang="en-US" sz="3782">
                <a:solidFill>
                  <a:srgbClr val="273348"/>
                </a:solidFill>
                <a:latin typeface="Canva Sans"/>
                <a:ea typeface="Canva Sans"/>
                <a:cs typeface="Canva Sans"/>
                <a:sym typeface="Canva Sans"/>
              </a:rPr>
              <a:t>D</a:t>
            </a:r>
            <a:r>
              <a:rPr lang="en-US" sz="3782">
                <a:solidFill>
                  <a:srgbClr val="273348"/>
                </a:solidFill>
                <a:latin typeface="Canva Sans"/>
                <a:ea typeface="Canva Sans"/>
                <a:cs typeface="Canva Sans"/>
                <a:sym typeface="Canva Sans"/>
              </a:rPr>
              <a:t>esenvolver um software capaz de captar, processar e analisar características associadas à disgrafia motora, auxiliando o profissional de Terapia Ocupacional na avaliação e acompanhamento dos pacientes.</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5400000">
            <a:off x="14205164" y="6283140"/>
            <a:ext cx="7599736" cy="7572100"/>
          </a:xfrm>
          <a:custGeom>
            <a:avLst/>
            <a:gdLst/>
            <a:ahLst/>
            <a:cxnLst/>
            <a:rect r="r" b="b" t="t" l="l"/>
            <a:pathLst>
              <a:path h="7572100" w="7599736">
                <a:moveTo>
                  <a:pt x="7599736" y="0"/>
                </a:moveTo>
                <a:lnTo>
                  <a:pt x="0" y="0"/>
                </a:lnTo>
                <a:lnTo>
                  <a:pt x="0" y="7572100"/>
                </a:lnTo>
                <a:lnTo>
                  <a:pt x="7599736" y="7572100"/>
                </a:lnTo>
                <a:lnTo>
                  <a:pt x="7599736"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true" flipV="false" rot="-5400000">
            <a:off x="-4308791" y="-4069018"/>
            <a:ext cx="8167737" cy="8138036"/>
          </a:xfrm>
          <a:custGeom>
            <a:avLst/>
            <a:gdLst/>
            <a:ahLst/>
            <a:cxnLst/>
            <a:rect r="r" b="b" t="t" l="l"/>
            <a:pathLst>
              <a:path h="8138036" w="8167737">
                <a:moveTo>
                  <a:pt x="8167738" y="0"/>
                </a:moveTo>
                <a:lnTo>
                  <a:pt x="0" y="0"/>
                </a:lnTo>
                <a:lnTo>
                  <a:pt x="0" y="8138036"/>
                </a:lnTo>
                <a:lnTo>
                  <a:pt x="8167738" y="8138036"/>
                </a:lnTo>
                <a:lnTo>
                  <a:pt x="8167738"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7" id="7"/>
          <p:cNvSpPr txBox="true"/>
          <p:nvPr/>
        </p:nvSpPr>
        <p:spPr>
          <a:xfrm rot="0">
            <a:off x="4160908" y="1639716"/>
            <a:ext cx="9288206" cy="1071019"/>
          </a:xfrm>
          <a:prstGeom prst="rect">
            <a:avLst/>
          </a:prstGeom>
        </p:spPr>
        <p:txBody>
          <a:bodyPr anchor="t" rtlCol="false" tIns="0" lIns="0" bIns="0" rIns="0">
            <a:spAutoFit/>
          </a:bodyPr>
          <a:lstStyle/>
          <a:p>
            <a:pPr algn="ctr">
              <a:lnSpc>
                <a:spcPts val="8107"/>
              </a:lnSpc>
            </a:pPr>
            <a:r>
              <a:rPr lang="en-US" b="true" sz="7721">
                <a:solidFill>
                  <a:srgbClr val="273348"/>
                </a:solidFill>
                <a:latin typeface="Cy Grotesk V3 Key Bold"/>
                <a:ea typeface="Cy Grotesk V3 Key Bold"/>
                <a:cs typeface="Cy Grotesk V3 Key Bold"/>
                <a:sym typeface="Cy Grotesk V3 Key Bold"/>
              </a:rPr>
              <a:t>OBJETIVO</a:t>
            </a:r>
          </a:p>
        </p:txBody>
      </p:sp>
      <p:sp>
        <p:nvSpPr>
          <p:cNvPr name="TextBox 8" id="8"/>
          <p:cNvSpPr txBox="true"/>
          <p:nvPr/>
        </p:nvSpPr>
        <p:spPr>
          <a:xfrm rot="0">
            <a:off x="7129212" y="2758360"/>
            <a:ext cx="3351598" cy="410352"/>
          </a:xfrm>
          <a:prstGeom prst="rect">
            <a:avLst/>
          </a:prstGeom>
        </p:spPr>
        <p:txBody>
          <a:bodyPr anchor="t" rtlCol="false" tIns="0" lIns="0" bIns="0" rIns="0">
            <a:spAutoFit/>
          </a:bodyPr>
          <a:lstStyle/>
          <a:p>
            <a:pPr algn="ctr">
              <a:lnSpc>
                <a:spcPts val="3192"/>
              </a:lnSpc>
            </a:pPr>
            <a:r>
              <a:rPr lang="en-US" b="true" sz="3040">
                <a:solidFill>
                  <a:srgbClr val="273348"/>
                </a:solidFill>
                <a:latin typeface="Canva Sans Bold"/>
                <a:ea typeface="Canva Sans Bold"/>
                <a:cs typeface="Canva Sans Bold"/>
                <a:sym typeface="Canva Sans Bold"/>
              </a:rPr>
              <a:t>Objetivo Geral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872283" y="4331519"/>
            <a:ext cx="13046290" cy="3210341"/>
          </a:xfrm>
          <a:prstGeom prst="rect">
            <a:avLst/>
          </a:prstGeom>
        </p:spPr>
        <p:txBody>
          <a:bodyPr anchor="t" rtlCol="false" tIns="0" lIns="0" bIns="0" rIns="0">
            <a:spAutoFit/>
          </a:bodyPr>
          <a:lstStyle/>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C</a:t>
            </a:r>
            <a:r>
              <a:rPr lang="en-US" sz="3021">
                <a:solidFill>
                  <a:srgbClr val="273348"/>
                </a:solidFill>
                <a:latin typeface="Canva Sans"/>
                <a:ea typeface="Canva Sans"/>
                <a:cs typeface="Canva Sans"/>
                <a:sym typeface="Canva Sans"/>
              </a:rPr>
              <a:t>adastrar e gerenciar profissionais e pacientes;</a:t>
            </a:r>
          </a:p>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Capturar o posicionamento e movimentos da mão durante a escrita;</a:t>
            </a:r>
          </a:p>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Anali</a:t>
            </a:r>
            <a:r>
              <a:rPr lang="en-US" sz="3021">
                <a:solidFill>
                  <a:srgbClr val="273348"/>
                </a:solidFill>
                <a:latin typeface="Canva Sans"/>
                <a:ea typeface="Canva Sans"/>
                <a:cs typeface="Canva Sans"/>
                <a:sym typeface="Canva Sans"/>
              </a:rPr>
              <a:t>sar espaçamento e legibilidade da escrita;</a:t>
            </a:r>
          </a:p>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Processar e organizar os dados coletados;</a:t>
            </a:r>
          </a:p>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Armazenar avaliações e resultados das mesmas;</a:t>
            </a:r>
          </a:p>
          <a:p>
            <a:pPr algn="l" marL="652418" indent="-326209" lvl="1">
              <a:lnSpc>
                <a:spcPts val="3172"/>
              </a:lnSpc>
              <a:buFont typeface="Arial"/>
              <a:buChar char="•"/>
            </a:pPr>
            <a:r>
              <a:rPr lang="en-US" sz="3021">
                <a:solidFill>
                  <a:srgbClr val="273348"/>
                </a:solidFill>
                <a:latin typeface="Canva Sans"/>
                <a:ea typeface="Canva Sans"/>
                <a:cs typeface="Canva Sans"/>
                <a:sym typeface="Canva Sans"/>
              </a:rPr>
              <a:t>Disponibilizar histórico para comparação entre as avaliações.</a:t>
            </a:r>
          </a:p>
          <a:p>
            <a:pPr algn="l">
              <a:lnSpc>
                <a:spcPts val="3172"/>
              </a:lnSpc>
            </a:pP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5400000">
            <a:off x="14205164" y="6283140"/>
            <a:ext cx="7599736" cy="7572100"/>
          </a:xfrm>
          <a:custGeom>
            <a:avLst/>
            <a:gdLst/>
            <a:ahLst/>
            <a:cxnLst/>
            <a:rect r="r" b="b" t="t" l="l"/>
            <a:pathLst>
              <a:path h="7572100" w="7599736">
                <a:moveTo>
                  <a:pt x="7599736" y="0"/>
                </a:moveTo>
                <a:lnTo>
                  <a:pt x="0" y="0"/>
                </a:lnTo>
                <a:lnTo>
                  <a:pt x="0" y="7572100"/>
                </a:lnTo>
                <a:lnTo>
                  <a:pt x="7599736" y="7572100"/>
                </a:lnTo>
                <a:lnTo>
                  <a:pt x="7599736"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false" rot="-5400000">
            <a:off x="-4218022" y="-4069018"/>
            <a:ext cx="8167737" cy="8138036"/>
          </a:xfrm>
          <a:custGeom>
            <a:avLst/>
            <a:gdLst/>
            <a:ahLst/>
            <a:cxnLst/>
            <a:rect r="r" b="b" t="t" l="l"/>
            <a:pathLst>
              <a:path h="8138036" w="8167737">
                <a:moveTo>
                  <a:pt x="8167737" y="0"/>
                </a:moveTo>
                <a:lnTo>
                  <a:pt x="0" y="0"/>
                </a:lnTo>
                <a:lnTo>
                  <a:pt x="0" y="8138036"/>
                </a:lnTo>
                <a:lnTo>
                  <a:pt x="8167737" y="8138036"/>
                </a:lnTo>
                <a:lnTo>
                  <a:pt x="8167737"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325" y="1557062"/>
            <a:ext cx="9288206" cy="1071019"/>
          </a:xfrm>
          <a:prstGeom prst="rect">
            <a:avLst/>
          </a:prstGeom>
        </p:spPr>
        <p:txBody>
          <a:bodyPr anchor="t" rtlCol="false" tIns="0" lIns="0" bIns="0" rIns="0">
            <a:spAutoFit/>
          </a:bodyPr>
          <a:lstStyle/>
          <a:p>
            <a:pPr algn="ctr">
              <a:lnSpc>
                <a:spcPts val="8107"/>
              </a:lnSpc>
            </a:pPr>
            <a:r>
              <a:rPr lang="en-US" b="true" sz="7721">
                <a:solidFill>
                  <a:srgbClr val="273348"/>
                </a:solidFill>
                <a:latin typeface="Cy Grotesk V3 Key Bold"/>
                <a:ea typeface="Cy Grotesk V3 Key Bold"/>
                <a:cs typeface="Cy Grotesk V3 Key Bold"/>
                <a:sym typeface="Cy Grotesk V3 Key Bold"/>
              </a:rPr>
              <a:t>OBJETIVO </a:t>
            </a:r>
          </a:p>
        </p:txBody>
      </p:sp>
      <p:sp>
        <p:nvSpPr>
          <p:cNvPr name="TextBox 7" id="7"/>
          <p:cNvSpPr txBox="true"/>
          <p:nvPr/>
        </p:nvSpPr>
        <p:spPr>
          <a:xfrm rot="0">
            <a:off x="6908461" y="2872372"/>
            <a:ext cx="4471079" cy="410352"/>
          </a:xfrm>
          <a:prstGeom prst="rect">
            <a:avLst/>
          </a:prstGeom>
        </p:spPr>
        <p:txBody>
          <a:bodyPr anchor="t" rtlCol="false" tIns="0" lIns="0" bIns="0" rIns="0">
            <a:spAutoFit/>
          </a:bodyPr>
          <a:lstStyle/>
          <a:p>
            <a:pPr algn="ctr">
              <a:lnSpc>
                <a:spcPts val="3192"/>
              </a:lnSpc>
            </a:pPr>
            <a:r>
              <a:rPr lang="en-US" b="true" sz="3040">
                <a:solidFill>
                  <a:srgbClr val="273348"/>
                </a:solidFill>
                <a:latin typeface="Canva Sans Bold"/>
                <a:ea typeface="Canva Sans Bold"/>
                <a:cs typeface="Canva Sans Bold"/>
                <a:sym typeface="Canva Sans Bold"/>
              </a:rPr>
              <a:t>Objetivos Específicos</a:t>
            </a:r>
          </a:p>
        </p:txBody>
      </p:sp>
      <p:sp>
        <p:nvSpPr>
          <p:cNvPr name="TextBox 8" id="8"/>
          <p:cNvSpPr txBox="true"/>
          <p:nvPr/>
        </p:nvSpPr>
        <p:spPr>
          <a:xfrm rot="0">
            <a:off x="1892924" y="8339939"/>
            <a:ext cx="15005010" cy="409991"/>
          </a:xfrm>
          <a:prstGeom prst="rect">
            <a:avLst/>
          </a:prstGeom>
        </p:spPr>
        <p:txBody>
          <a:bodyPr anchor="t" rtlCol="false" tIns="0" lIns="0" bIns="0" rIns="0">
            <a:spAutoFit/>
          </a:bodyPr>
          <a:lstStyle/>
          <a:p>
            <a:pPr algn="l">
              <a:lnSpc>
                <a:spcPts val="3172"/>
              </a:lnSpc>
            </a:pPr>
            <a:r>
              <a:rPr lang="en-US" sz="3021" b="true">
                <a:solidFill>
                  <a:srgbClr val="273348"/>
                </a:solidFill>
                <a:latin typeface="Canva Sans Medium"/>
                <a:ea typeface="Canva Sans Medium"/>
                <a:cs typeface="Canva Sans Medium"/>
                <a:sym typeface="Canva Sans Medium"/>
              </a:rPr>
              <a:t>Profissional → Paciente → Avaliação → Processamento → Resultado → Histórico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0219" y="3205203"/>
            <a:ext cx="13027561" cy="878609"/>
          </a:xfrm>
          <a:prstGeom prst="rect">
            <a:avLst/>
          </a:prstGeom>
        </p:spPr>
        <p:txBody>
          <a:bodyPr anchor="t" rtlCol="false" tIns="0" lIns="0" bIns="0" rIns="0">
            <a:spAutoFit/>
          </a:bodyPr>
          <a:lstStyle/>
          <a:p>
            <a:pPr algn="ctr">
              <a:lnSpc>
                <a:spcPts val="6520"/>
              </a:lnSpc>
            </a:pPr>
            <a:r>
              <a:rPr lang="en-US" b="true" sz="7011">
                <a:solidFill>
                  <a:srgbClr val="273348"/>
                </a:solidFill>
                <a:latin typeface="Cy Grotesk V3 Key Bold"/>
                <a:ea typeface="Cy Grotesk V3 Key Bold"/>
                <a:cs typeface="Cy Grotesk V3 Key Bold"/>
                <a:sym typeface="Cy Grotesk V3 Key Bold"/>
              </a:rPr>
              <a:t>METODOLOGIA</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2094848">
            <a:off x="14319049" y="5915413"/>
            <a:ext cx="3991356" cy="4114800"/>
          </a:xfrm>
          <a:custGeom>
            <a:avLst/>
            <a:gdLst/>
            <a:ahLst/>
            <a:cxnLst/>
            <a:rect r="r" b="b" t="t" l="l"/>
            <a:pathLst>
              <a:path h="4114800" w="3991356">
                <a:moveTo>
                  <a:pt x="0" y="0"/>
                </a:moveTo>
                <a:lnTo>
                  <a:pt x="3991356" y="0"/>
                </a:lnTo>
                <a:lnTo>
                  <a:pt x="399135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886428" y="4672847"/>
            <a:ext cx="10515144" cy="2453592"/>
          </a:xfrm>
          <a:prstGeom prst="rect">
            <a:avLst/>
          </a:prstGeom>
        </p:spPr>
        <p:txBody>
          <a:bodyPr anchor="t" rtlCol="false" tIns="0" lIns="0" bIns="0" rIns="0">
            <a:spAutoFit/>
          </a:bodyPr>
          <a:lstStyle/>
          <a:p>
            <a:pPr algn="ctr">
              <a:lnSpc>
                <a:spcPts val="3266"/>
              </a:lnSpc>
            </a:pPr>
            <a:r>
              <a:rPr lang="en-US" sz="2634">
                <a:solidFill>
                  <a:srgbClr val="273348"/>
                </a:solidFill>
                <a:latin typeface="Canva Sans"/>
                <a:ea typeface="Canva Sans"/>
                <a:cs typeface="Canva Sans"/>
                <a:sym typeface="Canva Sans"/>
              </a:rPr>
              <a:t>A</a:t>
            </a:r>
            <a:r>
              <a:rPr lang="en-US" sz="2634">
                <a:solidFill>
                  <a:srgbClr val="273348"/>
                </a:solidFill>
                <a:latin typeface="Canva Sans"/>
                <a:ea typeface="Canva Sans"/>
                <a:cs typeface="Canva Sans"/>
                <a:sym typeface="Canva Sans"/>
              </a:rPr>
              <a:t> pesquisa caracteriza-se como aplicada, quantitativa e apoiada por dados qualitativos. É aplicada por buscar desenvolver uma solução tecnológica para auxiliar na análise de características associadas à disgrafia motora. A abordagem quantitativa está relacionada à coleta e análise de dados obtidos durante as atividades realizadas pelo usuário.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11112" y="5498251"/>
            <a:ext cx="6359904" cy="2100954"/>
          </a:xfrm>
          <a:prstGeom prst="rect">
            <a:avLst/>
          </a:prstGeom>
        </p:spPr>
        <p:txBody>
          <a:bodyPr anchor="t" rtlCol="false" tIns="0" lIns="0" bIns="0" rIns="0">
            <a:spAutoFit/>
          </a:bodyPr>
          <a:lstStyle/>
          <a:p>
            <a:pPr algn="l">
              <a:lnSpc>
                <a:spcPts val="3318"/>
              </a:lnSpc>
            </a:pPr>
            <a:r>
              <a:rPr lang="en-US" sz="2676">
                <a:solidFill>
                  <a:srgbClr val="273348"/>
                </a:solidFill>
                <a:latin typeface="Canva Sans"/>
                <a:ea typeface="Canva Sans"/>
                <a:cs typeface="Canva Sans"/>
                <a:sym typeface="Canva Sans"/>
              </a:rPr>
              <a:t>O software poderá captar dados relacionados ao posicionamento da mão, espaçamento e legibilidade da escrita, fornecendo indicadores para auxiliar a avaliação profissional.</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3557224" y="243281"/>
            <a:ext cx="2973508" cy="3018790"/>
          </a:xfrm>
          <a:custGeom>
            <a:avLst/>
            <a:gdLst/>
            <a:ahLst/>
            <a:cxnLst/>
            <a:rect r="r" b="b" t="t" l="l"/>
            <a:pathLst>
              <a:path h="3018790" w="2973508">
                <a:moveTo>
                  <a:pt x="0" y="0"/>
                </a:moveTo>
                <a:lnTo>
                  <a:pt x="2973507" y="0"/>
                </a:lnTo>
                <a:lnTo>
                  <a:pt x="2973507" y="3018789"/>
                </a:lnTo>
                <a:lnTo>
                  <a:pt x="0" y="30187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709175" y="2057476"/>
            <a:ext cx="10449830" cy="1497450"/>
          </a:xfrm>
          <a:prstGeom prst="rect">
            <a:avLst/>
          </a:prstGeom>
        </p:spPr>
        <p:txBody>
          <a:bodyPr anchor="t" rtlCol="false" tIns="0" lIns="0" bIns="0" rIns="0">
            <a:spAutoFit/>
          </a:bodyPr>
          <a:lstStyle/>
          <a:p>
            <a:pPr algn="ctr">
              <a:lnSpc>
                <a:spcPts val="11091"/>
              </a:lnSpc>
            </a:pPr>
            <a:r>
              <a:rPr lang="en-US" b="true" sz="11926">
                <a:solidFill>
                  <a:srgbClr val="273348"/>
                </a:solidFill>
                <a:latin typeface="Cy Grotesk V3 Key Bold"/>
                <a:ea typeface="Cy Grotesk V3 Key Bold"/>
                <a:cs typeface="Cy Grotesk V3 Key Bold"/>
                <a:sym typeface="Cy Grotesk V3 Key Bold"/>
              </a:rPr>
              <a:t>HIPÓTESES</a:t>
            </a:r>
          </a:p>
        </p:txBody>
      </p:sp>
      <p:sp>
        <p:nvSpPr>
          <p:cNvPr name="TextBox 7" id="7"/>
          <p:cNvSpPr txBox="true"/>
          <p:nvPr/>
        </p:nvSpPr>
        <p:spPr>
          <a:xfrm rot="0">
            <a:off x="2068589" y="4006904"/>
            <a:ext cx="6644950" cy="810402"/>
          </a:xfrm>
          <a:prstGeom prst="rect">
            <a:avLst/>
          </a:prstGeom>
        </p:spPr>
        <p:txBody>
          <a:bodyPr anchor="t" rtlCol="false" tIns="0" lIns="0" bIns="0" rIns="0">
            <a:spAutoFit/>
          </a:bodyPr>
          <a:lstStyle/>
          <a:p>
            <a:pPr algn="ctr">
              <a:lnSpc>
                <a:spcPts val="3192"/>
              </a:lnSpc>
            </a:pPr>
            <a:r>
              <a:rPr lang="en-US" b="true" sz="3040">
                <a:solidFill>
                  <a:srgbClr val="273348"/>
                </a:solidFill>
                <a:latin typeface="Canva Sans Bold"/>
                <a:ea typeface="Canva Sans Bold"/>
                <a:cs typeface="Canva Sans Bold"/>
                <a:sym typeface="Canva Sans Bold"/>
              </a:rPr>
              <a:t>01 - CAPTAR DADOS DO PACIENTE PARA ANÁLISE PROFISSIONAL</a:t>
            </a:r>
          </a:p>
        </p:txBody>
      </p:sp>
      <p:sp>
        <p:nvSpPr>
          <p:cNvPr name="TextBox 8" id="8"/>
          <p:cNvSpPr txBox="true"/>
          <p:nvPr/>
        </p:nvSpPr>
        <p:spPr>
          <a:xfrm rot="0">
            <a:off x="9631477" y="4006904"/>
            <a:ext cx="7108463" cy="1610502"/>
          </a:xfrm>
          <a:prstGeom prst="rect">
            <a:avLst/>
          </a:prstGeom>
        </p:spPr>
        <p:txBody>
          <a:bodyPr anchor="t" rtlCol="false" tIns="0" lIns="0" bIns="0" rIns="0">
            <a:spAutoFit/>
          </a:bodyPr>
          <a:lstStyle/>
          <a:p>
            <a:pPr algn="ctr">
              <a:lnSpc>
                <a:spcPts val="3192"/>
              </a:lnSpc>
            </a:pPr>
            <a:r>
              <a:rPr lang="en-US" sz="3040" b="true">
                <a:solidFill>
                  <a:srgbClr val="273348"/>
                </a:solidFill>
                <a:latin typeface="Canva Sans Bold"/>
                <a:ea typeface="Canva Sans Bold"/>
                <a:cs typeface="Canva Sans Bold"/>
                <a:sym typeface="Canva Sans Bold"/>
              </a:rPr>
              <a:t>02 -  AJUDAR NA EVOLUÇÃO DO PACIENTE COM A DISGRAFIA MOTORA</a:t>
            </a:r>
          </a:p>
          <a:p>
            <a:pPr algn="ctr">
              <a:lnSpc>
                <a:spcPts val="3192"/>
              </a:lnSpc>
            </a:pPr>
          </a:p>
        </p:txBody>
      </p:sp>
      <p:sp>
        <p:nvSpPr>
          <p:cNvPr name="TextBox 9" id="9"/>
          <p:cNvSpPr txBox="true"/>
          <p:nvPr/>
        </p:nvSpPr>
        <p:spPr>
          <a:xfrm rot="0">
            <a:off x="9631477" y="5707801"/>
            <a:ext cx="8408336" cy="3358254"/>
          </a:xfrm>
          <a:prstGeom prst="rect">
            <a:avLst/>
          </a:prstGeom>
        </p:spPr>
        <p:txBody>
          <a:bodyPr anchor="t" rtlCol="false" tIns="0" lIns="0" bIns="0" rIns="0">
            <a:spAutoFit/>
          </a:bodyPr>
          <a:lstStyle/>
          <a:p>
            <a:pPr algn="l">
              <a:lnSpc>
                <a:spcPts val="3318"/>
              </a:lnSpc>
            </a:pPr>
            <a:r>
              <a:rPr lang="en-US" sz="2676">
                <a:solidFill>
                  <a:srgbClr val="273348"/>
                </a:solidFill>
                <a:latin typeface="Canva Sans"/>
                <a:ea typeface="Canva Sans"/>
                <a:cs typeface="Canva Sans"/>
                <a:sym typeface="Canva Sans"/>
              </a:rPr>
              <a:t>A comparação entre avaliações poderá auxiliar o profissional a observar possíveis mudanças ao longo do acompanhamento, sem que o resultado represente diagnóstico ou porcentagem da presença de disgrafia motora. Portanto, os resultados são indicadores computacionais de apoio.</a:t>
            </a:r>
          </a:p>
          <a:p>
            <a:pPr algn="l">
              <a:lnSpc>
                <a:spcPts val="331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173170" y="4455188"/>
            <a:ext cx="10045812" cy="1335181"/>
          </a:xfrm>
          <a:prstGeom prst="rect">
            <a:avLst/>
          </a:prstGeom>
        </p:spPr>
        <p:txBody>
          <a:bodyPr anchor="t" rtlCol="false" tIns="0" lIns="0" bIns="0" rIns="0">
            <a:spAutoFit/>
          </a:bodyPr>
          <a:lstStyle/>
          <a:p>
            <a:pPr algn="ctr">
              <a:lnSpc>
                <a:spcPts val="9156"/>
              </a:lnSpc>
            </a:pPr>
            <a:r>
              <a:rPr lang="en-US" b="true" sz="11891">
                <a:solidFill>
                  <a:srgbClr val="273348"/>
                </a:solidFill>
                <a:latin typeface="Cy Grotesk V3 Key Bold"/>
                <a:ea typeface="Cy Grotesk V3 Key Bold"/>
                <a:cs typeface="Cy Grotesk V3 Key Bold"/>
                <a:sym typeface="Cy Grotesk V3 Key Bold"/>
              </a:rPr>
              <a:t>OBRIGADO!</a:t>
            </a:r>
          </a:p>
        </p:txBody>
      </p:sp>
      <p:sp>
        <p:nvSpPr>
          <p:cNvPr name="Freeform 3" id="3"/>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0219" y="2795197"/>
            <a:ext cx="13027561" cy="878666"/>
          </a:xfrm>
          <a:prstGeom prst="rect">
            <a:avLst/>
          </a:prstGeom>
        </p:spPr>
        <p:txBody>
          <a:bodyPr anchor="t" rtlCol="false" tIns="0" lIns="0" bIns="0" rIns="0">
            <a:spAutoFit/>
          </a:bodyPr>
          <a:lstStyle/>
          <a:p>
            <a:pPr algn="ctr">
              <a:lnSpc>
                <a:spcPts val="6520"/>
              </a:lnSpc>
            </a:pPr>
            <a:r>
              <a:rPr lang="en-US" b="true" sz="7011">
                <a:solidFill>
                  <a:srgbClr val="273348"/>
                </a:solidFill>
                <a:latin typeface="Cy Grotesk V3 Key Bold"/>
                <a:ea typeface="Cy Grotesk V3 Key Bold"/>
                <a:cs typeface="Cy Grotesk V3 Key Bold"/>
                <a:sym typeface="Cy Grotesk V3 Key Bold"/>
              </a:rPr>
              <a:t>RESUME</a:t>
            </a:r>
          </a:p>
        </p:txBody>
      </p:sp>
      <p:sp>
        <p:nvSpPr>
          <p:cNvPr name="TextBox 3" id="3"/>
          <p:cNvSpPr txBox="true"/>
          <p:nvPr/>
        </p:nvSpPr>
        <p:spPr>
          <a:xfrm rot="0">
            <a:off x="3886428" y="4351469"/>
            <a:ext cx="10515144" cy="3272449"/>
          </a:xfrm>
          <a:prstGeom prst="rect">
            <a:avLst/>
          </a:prstGeom>
        </p:spPr>
        <p:txBody>
          <a:bodyPr anchor="t" rtlCol="false" tIns="0" lIns="0" bIns="0" rIns="0">
            <a:spAutoFit/>
          </a:bodyPr>
          <a:lstStyle/>
          <a:p>
            <a:pPr algn="ctr">
              <a:lnSpc>
                <a:spcPts val="3266"/>
              </a:lnSpc>
            </a:pPr>
            <a:r>
              <a:rPr lang="en-US" sz="2634">
                <a:solidFill>
                  <a:srgbClr val="273348"/>
                </a:solidFill>
                <a:latin typeface="Canva Sans"/>
                <a:ea typeface="Canva Sans"/>
                <a:cs typeface="Canva Sans"/>
                <a:sym typeface="Canva Sans"/>
              </a:rPr>
              <a:t>Lorem ipsum dolor sit amet, consectetur adipiscing elit. Nullam pellentesque nunc et pulvinar vehicula. Vestibulum feugiat libero a diam gravida molestie. Nullam eget nulla consequat, placerat mauris a, facilisis purus. Nulla rutrum scelerisque ex. Aenean sit amet elit nec urna vulputate interdum. Duis suscipit mi non venenatis rhoncus. Quisque eu urna ornare, placerat tellus tempus, aliquet lectus. Lorem ipsum dolor sit amet, consectetur adipiscing elit. Nullam pellentesque nunc et pulvinar vehicula.</a:t>
            </a:r>
          </a:p>
        </p:txBody>
      </p:sp>
      <p:sp>
        <p:nvSpPr>
          <p:cNvPr name="Freeform 4" id="4"/>
          <p:cNvSpPr/>
          <p:nvPr/>
        </p:nvSpPr>
        <p:spPr>
          <a:xfrm flipH="false" flipV="false" rot="-5400000">
            <a:off x="14204131" y="-4069018"/>
            <a:ext cx="8167737" cy="8138036"/>
          </a:xfrm>
          <a:custGeom>
            <a:avLst/>
            <a:gdLst/>
            <a:ahLst/>
            <a:cxnLst/>
            <a:rect r="r" b="b" t="t" l="l"/>
            <a:pathLst>
              <a:path h="8138036" w="8167737">
                <a:moveTo>
                  <a:pt x="0" y="0"/>
                </a:moveTo>
                <a:lnTo>
                  <a:pt x="8167738" y="0"/>
                </a:lnTo>
                <a:lnTo>
                  <a:pt x="8167738" y="8138036"/>
                </a:lnTo>
                <a:lnTo>
                  <a:pt x="0" y="813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400000">
            <a:off x="-3741822" y="6283140"/>
            <a:ext cx="7599736" cy="7572100"/>
          </a:xfrm>
          <a:custGeom>
            <a:avLst/>
            <a:gdLst/>
            <a:ahLst/>
            <a:cxnLst/>
            <a:rect r="r" b="b" t="t" l="l"/>
            <a:pathLst>
              <a:path h="7572100" w="7599736">
                <a:moveTo>
                  <a:pt x="0" y="0"/>
                </a:moveTo>
                <a:lnTo>
                  <a:pt x="7599736" y="0"/>
                </a:lnTo>
                <a:lnTo>
                  <a:pt x="7599736" y="7572100"/>
                </a:lnTo>
                <a:lnTo>
                  <a:pt x="0" y="757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970169" y="6159382"/>
            <a:ext cx="2777758" cy="3098918"/>
          </a:xfrm>
          <a:custGeom>
            <a:avLst/>
            <a:gdLst/>
            <a:ahLst/>
            <a:cxnLst/>
            <a:rect r="r" b="b" t="t" l="l"/>
            <a:pathLst>
              <a:path h="3098918" w="2777758">
                <a:moveTo>
                  <a:pt x="0" y="0"/>
                </a:moveTo>
                <a:lnTo>
                  <a:pt x="2777758" y="0"/>
                </a:lnTo>
                <a:lnTo>
                  <a:pt x="2777758" y="3098918"/>
                </a:lnTo>
                <a:lnTo>
                  <a:pt x="0" y="30989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173576" y="6267151"/>
            <a:ext cx="2285734" cy="2883380"/>
          </a:xfrm>
          <a:custGeom>
            <a:avLst/>
            <a:gdLst/>
            <a:ahLst/>
            <a:cxnLst/>
            <a:rect r="r" b="b" t="t" l="l"/>
            <a:pathLst>
              <a:path h="2883380" w="2285734">
                <a:moveTo>
                  <a:pt x="0" y="0"/>
                </a:moveTo>
                <a:lnTo>
                  <a:pt x="2285734" y="0"/>
                </a:lnTo>
                <a:lnTo>
                  <a:pt x="2285734" y="2883380"/>
                </a:lnTo>
                <a:lnTo>
                  <a:pt x="0" y="28833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24553" y="6476315"/>
            <a:ext cx="3238163" cy="2465052"/>
          </a:xfrm>
          <a:custGeom>
            <a:avLst/>
            <a:gdLst/>
            <a:ahLst/>
            <a:cxnLst/>
            <a:rect r="r" b="b" t="t" l="l"/>
            <a:pathLst>
              <a:path h="2465052" w="3238163">
                <a:moveTo>
                  <a:pt x="0" y="0"/>
                </a:moveTo>
                <a:lnTo>
                  <a:pt x="3238164" y="0"/>
                </a:lnTo>
                <a:lnTo>
                  <a:pt x="3238164" y="2465052"/>
                </a:lnTo>
                <a:lnTo>
                  <a:pt x="0" y="246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310454" y="6411954"/>
            <a:ext cx="2603240" cy="2593774"/>
          </a:xfrm>
          <a:custGeom>
            <a:avLst/>
            <a:gdLst/>
            <a:ahLst/>
            <a:cxnLst/>
            <a:rect r="r" b="b" t="t" l="l"/>
            <a:pathLst>
              <a:path h="2593774" w="2603240">
                <a:moveTo>
                  <a:pt x="0" y="0"/>
                </a:moveTo>
                <a:lnTo>
                  <a:pt x="2603240" y="0"/>
                </a:lnTo>
                <a:lnTo>
                  <a:pt x="2603240" y="2593774"/>
                </a:lnTo>
                <a:lnTo>
                  <a:pt x="0" y="25937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669834" y="1371596"/>
            <a:ext cx="3598722" cy="4498402"/>
          </a:xfrm>
          <a:custGeom>
            <a:avLst/>
            <a:gdLst/>
            <a:ahLst/>
            <a:cxnLst/>
            <a:rect r="r" b="b" t="t" l="l"/>
            <a:pathLst>
              <a:path h="4498402" w="3598722">
                <a:moveTo>
                  <a:pt x="0" y="0"/>
                </a:moveTo>
                <a:lnTo>
                  <a:pt x="3598722" y="0"/>
                </a:lnTo>
                <a:lnTo>
                  <a:pt x="3598722" y="4498403"/>
                </a:lnTo>
                <a:lnTo>
                  <a:pt x="0" y="44984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1023609" y="1463699"/>
            <a:ext cx="3710946" cy="4437001"/>
          </a:xfrm>
          <a:custGeom>
            <a:avLst/>
            <a:gdLst/>
            <a:ahLst/>
            <a:cxnLst/>
            <a:rect r="r" b="b" t="t" l="l"/>
            <a:pathLst>
              <a:path h="4437001" w="3710946">
                <a:moveTo>
                  <a:pt x="0" y="0"/>
                </a:moveTo>
                <a:lnTo>
                  <a:pt x="3710946" y="0"/>
                </a:lnTo>
                <a:lnTo>
                  <a:pt x="3710946" y="4437000"/>
                </a:lnTo>
                <a:lnTo>
                  <a:pt x="0" y="4437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7202237" y="1402297"/>
            <a:ext cx="4122377" cy="4437001"/>
          </a:xfrm>
          <a:custGeom>
            <a:avLst/>
            <a:gdLst/>
            <a:ahLst/>
            <a:cxnLst/>
            <a:rect r="r" b="b" t="t" l="l"/>
            <a:pathLst>
              <a:path h="4437001" w="4122377">
                <a:moveTo>
                  <a:pt x="0" y="0"/>
                </a:moveTo>
                <a:lnTo>
                  <a:pt x="4122377" y="0"/>
                </a:lnTo>
                <a:lnTo>
                  <a:pt x="4122377" y="4437001"/>
                </a:lnTo>
                <a:lnTo>
                  <a:pt x="0" y="4437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540073" y="6240384"/>
            <a:ext cx="2259522" cy="2883380"/>
          </a:xfrm>
          <a:custGeom>
            <a:avLst/>
            <a:gdLst/>
            <a:ahLst/>
            <a:cxnLst/>
            <a:rect r="r" b="b" t="t" l="l"/>
            <a:pathLst>
              <a:path h="2883380" w="2259522">
                <a:moveTo>
                  <a:pt x="0" y="0"/>
                </a:moveTo>
                <a:lnTo>
                  <a:pt x="2259522" y="0"/>
                </a:lnTo>
                <a:lnTo>
                  <a:pt x="2259522" y="2883380"/>
                </a:lnTo>
                <a:lnTo>
                  <a:pt x="0" y="28833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14492378" y="765481"/>
            <a:ext cx="2766922" cy="450237"/>
          </a:xfrm>
          <a:prstGeom prst="rect">
            <a:avLst/>
          </a:prstGeom>
        </p:spPr>
        <p:txBody>
          <a:bodyPr anchor="t" rtlCol="false" tIns="0" lIns="0" bIns="0" rIns="0">
            <a:spAutoFit/>
          </a:bodyPr>
          <a:lstStyle/>
          <a:p>
            <a:pPr algn="ctr">
              <a:lnSpc>
                <a:spcPts val="3852"/>
              </a:lnSpc>
              <a:spcBef>
                <a:spcPct val="0"/>
              </a:spcBef>
            </a:pPr>
            <a:r>
              <a:rPr lang="en-US" sz="2469">
                <a:solidFill>
                  <a:srgbClr val="000000"/>
                </a:solidFill>
                <a:latin typeface="Canva Sans"/>
                <a:ea typeface="Canva Sans"/>
                <a:cs typeface="Canva Sans"/>
                <a:sym typeface="Canva Sans"/>
              </a:rPr>
              <a:t>RESOURCES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DAHTaHDWk6c</dc:identifier>
  <dcterms:modified xsi:type="dcterms:W3CDTF">2011-08-01T06:04:30Z</dcterms:modified>
  <cp:revision>1</cp:revision>
  <dc:title>Pitch TCC 2</dc:title>
</cp:coreProperties>
</file>